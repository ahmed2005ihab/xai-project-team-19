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E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CNN-XGBoost</c:v>
                  </c:pt>
                  <c:pt idx="1">
                    <c:v>COVID-Net</c:v>
                  </c:pt>
                  <c:pt idx="2">
                    <c:v>EfficientNet</c:v>
                  </c:pt>
                  <c:pt idx="3">
                    <c:v>CheXNet</c:v>
                  </c:pt>
                  <c:pt idx="4">
                    <c:v>VGG-CNN</c:v>
                  </c:pt>
                  <c:pt idx="5">
                    <c:v>YOLOv11</c:v>
                  </c:pt>
                  <c:pt idx="6">
                    <c:v>MobileNetV2</c:v>
                  </c:pt>
                  <c:pt idx="7">
                    <c:v>ViT</c:v>
                  </c:pt>
                  <c:pt idx="8">
                    <c:v>Xception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80.11</c:v>
                </c:pt>
                <c:pt idx="1">
                  <c:v>80</c:v>
                </c:pt>
                <c:pt idx="2">
                  <c:v>81</c:v>
                </c:pt>
                <c:pt idx="3">
                  <c:v>82</c:v>
                </c:pt>
                <c:pt idx="4">
                  <c:v>77</c:v>
                </c:pt>
                <c:pt idx="5">
                  <c:v>77.56</c:v>
                </c:pt>
                <c:pt idx="6">
                  <c:v>76.86</c:v>
                </c:pt>
                <c:pt idx="7">
                  <c:v>77</c:v>
                </c:pt>
                <c:pt idx="8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ROC-AUC (models with AUC reported)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EA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COVID-Net</c:v>
                  </c:pt>
                  <c:pt idx="1">
                    <c:v>EfficientNet</c:v>
                  </c:pt>
                  <c:pt idx="2">
                    <c:v>CheXNet</c:v>
                  </c:pt>
                  <c:pt idx="3">
                    <c:v>VGG-CNN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0.876</c:v>
                </c:pt>
                <c:pt idx="1">
                  <c:v>0.8948</c:v>
                </c:pt>
                <c:pt idx="2">
                  <c:v>0.8687</c:v>
                </c:pt>
                <c:pt idx="3">
                  <c:v>0.854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2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2423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Chest X-Ray Images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286000" y="306324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9 Deep Learning Architectures with 10 XAI Techniques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Ihab  |  Ahmed Assem  |  Habiba Ayman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Zewail City of Science and Technology  —  Team 19  |  May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305 — Explainable AI | RSNA Pneumonia Detection Challenge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82296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22529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pneumonia detection &amp; XAI matter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8308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178308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18541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RSNA dataset, splits, augmentation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43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" y="274320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ML Model Architectures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314553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ViT, Hybrid, MobileNet, and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0332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03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" y="370332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XAI Techniques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410565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LIME, SHAP, RISE, IG…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22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82296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122529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AUC, F1 across all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7830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78308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178308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Comparison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218541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&amp; qualitative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743200"/>
            <a:ext cx="457200" cy="7772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743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743200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Deployment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314553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discoveries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&amp; Motivation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AI + explainability for pneumonia diagnosis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Pneumonia &amp; AI in Radiology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196596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498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deaths/year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731520"/>
            <a:ext cx="196596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7498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day under-5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731520"/>
            <a:ext cx="1965960" cy="123444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7498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cases by Jun 2021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731520"/>
            <a:ext cx="196596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7498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mortality cause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Challenges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2450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CXR is the fastest, most accessible first-line diagnostic 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8712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pulmonary conditions produce visually similar opacities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291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skilled radiologists globally worsens the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7124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achieve radiologist-level accuracy but remain black boxes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XAI is Non-Negotiable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450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cannot act on predictions they cannot interrogate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8712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SaMD and EU AI Act mandate explainability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291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bridges the trust gap between AI predictions and clinical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7124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faithfulness must be verified — not just classification score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2103120"/>
            <a:ext cx="36576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&amp; Preprocessing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RSNA Pneumonia Detection Challenge dataset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RSNA Dataset &amp; Preprocessing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1965960" cy="86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26,684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patients (DICOM CXRs)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731520"/>
            <a:ext cx="19659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49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8,851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207008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Normal cases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731520"/>
            <a:ext cx="1965960" cy="86868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749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11,821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207008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Opacity / Not Normal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731520"/>
            <a:ext cx="196596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749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6,012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207008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Lung Opacity (Pneumonia)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37360"/>
          <a:ext cx="8503920" cy="324612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280160"/>
                <a:gridCol w="3474720"/>
              </a:tblGrid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COVID-Net (PEPX)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weights (1:3)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75/15/10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VGG-Based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CheXNet / EffNet-B4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CNN-XGBoost / YOLOv11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68/17/15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60/20/20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Nine Model Architectures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lightweight CNNs to Vision Transformers and hybrid models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Deep Learning Architectures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92608" cy="12618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795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COVID-Net (PEPX)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" y="116128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PEPX modules, depthwise separable conv, residual skip connections. Adapted for binary detection.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74980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49808"/>
            <a:ext cx="292608" cy="126187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74980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795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(COVID-Transformer)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116128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ViT-L/16 backbone + custom MLP head with GELU. Transformer-based feature extraction.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74980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749808"/>
            <a:ext cx="2926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74980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3368" y="79552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VGG-Based CNN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73368" y="116128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4-block CNN (3.34M params). CLAHE preprocessing, single-channel grayscale.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16712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67128"/>
            <a:ext cx="292608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6712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" y="221284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CheXNet (DenseNet-121)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" y="257860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connectivity alleviates vanishing gradients. Pretrained on ImageNet, fine-tuned.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16712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167128"/>
            <a:ext cx="292608" cy="1261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16712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221284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0440" y="257860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(depth × width × resolution). 19M params, 380×380 input.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25896" y="216712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25896" y="2167128"/>
            <a:ext cx="2926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5896" y="216712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73368" y="221284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73368" y="257860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convolutions. Decouples cross-channel &amp; spatial learning. FAILED to converge.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8444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584448"/>
            <a:ext cx="29260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8444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" y="3630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CNN-XGBoost Hybrid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7512" y="399592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extracts 128-dim features → XGBoost classifier (max_depth=6, n_est=200). Highest accuracy.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72968" y="358444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72968" y="3584448"/>
            <a:ext cx="29260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72968" y="358444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520440" y="3630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520440" y="399592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no transfer learning. 5-fold CV. Random weight initialization.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25896" y="3584448"/>
            <a:ext cx="272491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25896" y="3584448"/>
            <a:ext cx="29260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3584448"/>
            <a:ext cx="292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73368" y="3630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CNN-YOLOv11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73368" y="399592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YOLO-inspired depthwise separable CNN pipeline for binary classification.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Summary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31520"/>
          <a:ext cx="850392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371600"/>
                <a:gridCol w="91440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(1:3)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+ LS(0.3)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VGG-Based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CheXNet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1e-4/5e-5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BCELogits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pos_weight=3.44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1e-4/5e-5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BCELogits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1e-4/5e-5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BCELogits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pos_weight=1.573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CNN-YOLOv11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Explainability Methods (XAI)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complementary techniques: gradient-based, perturbation-based, game-theoretic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Technique Taxonomy &amp;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834640" cy="4178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8346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133856"/>
            <a:ext cx="26517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class-discriminative heatmaps via final conv gradients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Grad-CAM — pixel-level precision via guided backprop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 — |∂y/∂x| pixel attribution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— path integral from baseline, axiomatic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749808"/>
            <a:ext cx="2834640" cy="4178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749808"/>
            <a:ext cx="2834640" cy="347472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Perturbation-Based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8416" y="1133856"/>
            <a:ext cx="26517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SLIC superpixels + local linear surrogate (1,000 samples)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— random binary masks, weighted prediction sum (500 masks)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Ablation — Gaussian blur 25×25 per 32×32 patch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— inverse occlusion, feature sufficiency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Sensitivity — zero-out 32×32 patches, stride 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749808"/>
            <a:ext cx="2834640" cy="4178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08192" y="749808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133856"/>
            <a:ext cx="26517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Shapley values (GradientExplainer / DeepExplainer / KernelExplainer)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efficiency, symmetry, dummy, additivity axioms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Colormap: Red=pushes pneumonia, Blue=pushes normal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 Applied per Model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24528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9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9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Game-Theoretic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COVID-Net, ViT, CheXNet, CNN-XGBoost, MobileNetV2, YOLOv11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Gradients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COVID-Net, CheXNet, EfficientNet-B4, MobileNetV2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Saliency Maps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VGG-Based CNN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 Sensitivity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VGG-Based CNN, MobileNetV2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(COVID-Transformer)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(COVID-Transformer)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 (Inv. Occlusion)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(COVID-Transformer)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Grad-CAM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CNN-XGBoost, CNN-YOLOv11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CAF0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Quantitative XAI: Pointing Game &amp; CAM Intensity Ratio evaluated on CheXNet &amp; EfficientNet-B4 using radiologist bounding boxes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Results &amp; Classification Performance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9 models on accuracy, AUC, F1-score, and recall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Classification Performance — All 9 Models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24528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188720"/>
                <a:gridCol w="1097280"/>
                <a:gridCol w="1188720"/>
                <a:gridCol w="1463040"/>
              </a:tblGrid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CNN-XGBoost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COVID-Net (PEPX)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EfficientNet-B4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0.8948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CheXNet (DN-121)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VGG-Based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(COVID-Trans.)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CNN-YOLOv11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Xception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 (fail)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 (fail)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AUC Comparison — Visual Overview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49808"/>
          <a:ext cx="4297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749808"/>
          <a:ext cx="4069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8346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CNN-XGBoost 🏆 Highest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133856"/>
            <a:ext cx="265176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80.11% accuracy — best among all 9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alone: 50% (random-level)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+30pp improvement from XGBoost decision boundary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Hedhoud et al.'s hybrid finding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49808"/>
            <a:ext cx="283464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🔬 Highest AUC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133856"/>
            <a:ext cx="265176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0.8948 — best discriminative ranking 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ran full 15 epochs, no early stopping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 improved 0.840 → 0.883 steadily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 XAI failure discovered (next section)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749808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749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CheXNet ✅ Best XAI Balance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1133856"/>
            <a:ext cx="265176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0.8687, Pointing Game = 70%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0.50 → 0.5381 improved F1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interpretable Grad-CAM focus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clinical deployment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727448"/>
            <a:ext cx="850392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274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Xception FAILURE: AUC=0.52, oscillating loss (5.77→6.19→4.65→1.61), collapsed to predicting all positive — sensitivity to LR scheduling &amp; dataset inconsistency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XAI Analysis &amp; Comparison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and quantitative explainability across all models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XAI: Pointing Game &amp; CAM Intensity Ratio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CheXNet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70%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Pointing Game  |  CAM Ratio: 2.24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96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✅ Clinically aligned — focus on lung lesion regions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EfficientNet-B4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0%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80060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Pointing Game  |  CAM Ratio: 0.49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496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❌ CRITICAL FAILURE — peak at corner (364,0) for all 10 patients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9992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Game: % of positive patients where Grad-CAM peak pixel falls inside radiologist bounding box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4930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Intensity Ratio: Mean activation inside bounding box ÷ outside. Ratio &gt; 1 = lesion focus; &lt; 1 = spatial misalignment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398678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EfficientNet-B4's 380×380→12×12 downsampling creates zero-padding artifacts concentrating gradients at feature map boundaries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High AUC does NOT guarantee spatial XAI faithfulness — both metrics must be validated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 Comparison: Strengths &amp; Weaknesses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24528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3774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coarse heatmap, no arch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with aggressive downsampling (EffNet)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visual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Grad-CAM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Pixel-precision, sharp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model-agnostic, needs backprop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XGBoost/YOLO fine 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Saliency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instant gradient vis.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Noisy, no class discrimination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Sanity checks (VGG)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Gradients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Axiomatic, path integral guarantee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baseline 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attribution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Model-agnostic, robust to arch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(1000 perturbations), stochastic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when Grad-CAM 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Unified, theoretically grounded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(kernel), needs 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feature importance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Model-agnostic, probabilistic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masks, high 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ViT/opaque backbones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Ablation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high-freq artifacts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metric, not standardized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Diagnosing FP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feature sufficiency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patches, low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Identifying key image patches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 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Intuitive confidence drops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(stride-based scanning)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Validating spatial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Accuracy-XAI Faithfulness Dissociation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4206240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EfficientNet-B4 Paradox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AUC = 0.8948 (best discriminative ranking)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peak: pixel (364, 0) for ALL 10 patients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pixel = top-right corner — never a lung region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6946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Pointing Game — complete spatial failure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Intensity Ratio = 0.49 (more attention outside lesion)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380→12px downsampling + zero-padding gradient artifacts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correctly identified opacity for the same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8853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Model-agnostic methods more robust to arch pathologies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160520" cy="4206240"/>
          </a:xfrm>
          <a:prstGeom prst="rect">
            <a:avLst/>
          </a:prstGeom>
          <a:solidFill>
            <a:srgbClr val="DCFCE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229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CheXNet: The Gold Standard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28016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0.8687 (second highest)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70992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Pointing Game — 7/10 patients correctly localized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3969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Intensity Ratio = 2.24 (strong lesion focus)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946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highlights lower-lobe consolidation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0.50→0.5381 improves clinical sensitivity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LIME, SHAP, IG all converge to same lung regions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5876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connectivity preserves spatial information better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28853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architecture for clinical XAI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Qualitative Analysis — Key Observations by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20624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COVID-Net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TP: lower-lung activation ✓ | LIME superpixels confirm same regions | SHAP &amp; IG agree | Reasonable overlap with radiologist boxes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ViT (COVID-Trans.)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1155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LIME/RISE: lung parenchyma focus on TP | Blur Ablation FP: non-pathological high-freq artifacts | Frozen backbone encodes spurious correlations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85416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85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VGG-Based CNN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255117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TP: clinically relevant | FP: cardiac silhouette &amp; rib attention — explains false alarms | Occlusion confirms spatial validity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85416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85416"/>
            <a:ext cx="420624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85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CheXNet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255117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Pointing Game ✓ | Right lower-lobe consolidation focus | CAM ratio=2.24 (strong lesion focus) | Best XAI-classification balance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21024"/>
            <a:ext cx="420624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EfficientNet-B4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398678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FAILURE: (364,0) corner artifact | LIME correctly identifies opacity | Model-agnostic &gt; gradient methods for compound-scaled architectures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21024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21024"/>
            <a:ext cx="420624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CNN-XGBoost / YOLOv11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398678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bilateral lower-lobe regions (CAP pattern) | LIME: central/lower lung zones | Guided Grad-CAM: lung fields | MobileNetV2 occlusion: 15-30% confidence drop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Findings &amp; Clinical Recommendations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 for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34747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84124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CNN-XGBoost = Highest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123444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80.11% — hybrid CNN feature extraction + gradient boosting outperforms pure CNN softmax by 30pp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49808"/>
            <a:ext cx="34747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49808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4064" y="84124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= AUC King with Fatal XAI Flaw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84064" y="123444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AUC=0.8948 but 0% Pointing Game. High accuracy ≠ spatial XAI faithfulness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8541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85416"/>
            <a:ext cx="347472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85416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664" y="2276856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CheXNet = Best Clinical Balance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" y="267004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AUC=0.8687, Pointing Game=70%, CAM ratio=2.24. Recommended for clinical deployment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18541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85416"/>
            <a:ext cx="347472" cy="12984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85416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84064" y="2276856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Training Failure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4064" y="267004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AUC=0.52 — depthwise separable convolutions are sensitive to LR scheduling and dataset consistency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21024"/>
            <a:ext cx="347472" cy="1298448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21024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" y="37124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&gt; Grad-CAM for Compound-Scaled Architectures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" y="410565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perturbation methods are more robust when gradient-based methods fail due to aggressive downsampling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621024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21024"/>
            <a:ext cx="347472" cy="12984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621024"/>
            <a:ext cx="347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84064" y="37124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XAI is Essential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4064" y="410565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gives the complete picture. Gradient-based and perturbation-based methods must both be applied in clinical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Deployment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114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768096"/>
            <a:ext cx="7936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XAI + Classification Balance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097280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CheXNet (DenseNet-121)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3441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AUC=0.8687  ·  Pointing Game=70%  ·  CAM Ratio=2.24  ·  Threshold: 0.5381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19656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19656"/>
            <a:ext cx="41148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19656"/>
            <a:ext cx="8503920" cy="3474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837944"/>
            <a:ext cx="7936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Classification Performance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167128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4140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AUC=0.8948  ·  Use LIME/IG for explanation — Grad-CAM unreliable due to padding artifacts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9504"/>
            <a:ext cx="411480" cy="96012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9504"/>
            <a:ext cx="8503920" cy="347472"/>
          </a:xfrm>
          <a:prstGeom prst="rect">
            <a:avLst/>
          </a:prstGeom>
          <a:solidFill>
            <a:srgbClr val="007EA7">
              <a:alpha val="15000"/>
            </a:srgbClr>
          </a:solidFill>
          <a:ln w="12700">
            <a:solidFill>
              <a:srgbClr val="007EA7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907792"/>
            <a:ext cx="7936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Settings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" y="3236976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or VGG-Based CNN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34838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accuracy with low parameter count. VGG: best macro F1=0.77 with balanced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5935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59352"/>
            <a:ext cx="41148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59352"/>
            <a:ext cx="8503920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977640"/>
            <a:ext cx="7936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Accuracy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306824"/>
            <a:ext cx="3200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CNN-XGBoost Hybrid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553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80.11% accuracy. CNN features + gradient boosting. Interpretable feature importances via SHAP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5029200"/>
            <a:ext cx="850392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Threshold calibration: Default 0.50 is suboptimal. F1-optimal thresholds significantly improve clinical sensitivity.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4980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ViT Fine-Tuning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133856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the ViT-L/16 backbone on medical imaging data to improve adaptation beyond frozen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49808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74980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Xception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133856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with consistent dataset protocol, LR warm-up, and longer training to resolve convergence failure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85416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8541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CAM Variants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569464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Grad-CAM++ and Score-CAM for compound-scaled architectures to bypass zero-padding artifacts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8541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85416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18541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User Studies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2569464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multi-method XAI overlays improve radiologist confidence and diagnostic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21024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621024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Extension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005072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viral pneumonia, bacterial pneumonia, COVID-19, and normal (beyond binary classification)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21024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21024"/>
            <a:ext cx="4206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621024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4005072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under FDA Software as a Medical Device (SaMD) regulatory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Ihab  ·  Ahmed Assem  ·  Habiba Ayman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305 — XAI for Medical Imaging  |  Team 19  |  Zewail City  |  May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4160520"/>
            <a:ext cx="1371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4416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DL Models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4160520"/>
            <a:ext cx="1371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10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26080" y="4416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XAI Methods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4160520"/>
            <a:ext cx="1371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26K+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54880" y="4416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CXR Images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83680" y="4160520"/>
            <a:ext cx="1371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80.11%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4416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Best Accuracy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XAI for Pneumonia Detection</dc:title>
  <dc:subject>PptxGenJS Presentation</dc:subject>
  <dc:creator>Team 19</dc:creator>
  <cp:lastModifiedBy>Team 19</cp:lastModifiedBy>
  <cp:revision>1</cp:revision>
  <dcterms:created xsi:type="dcterms:W3CDTF">2026-05-13T04:35:37Z</dcterms:created>
  <dcterms:modified xsi:type="dcterms:W3CDTF">2026-05-13T04:35:37Z</dcterms:modified>
</cp:coreProperties>
</file>